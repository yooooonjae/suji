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표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2727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F6F8"/>
                </a:solidFill>
                <a:latin typeface="Apple SD Gothic Neo"/>
              </a:rPr>
              <a:t>수지(收支) — 대한민국 부동산 개발의 손익 구조  ·  개인 연구 포트폴리오  ·  서윤재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공공 데이터 → 재무 모델 → 인터랙티브 웹 리포트, 전 과정을 하루 사이클로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D95"/>
                </a:solidFill>
                <a:latin typeface="Apple SD Gothic Neo"/>
              </a:rPr>
              <a:t>무엇을 만들었나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대한민국 부동산 개발사업(신축분양·재개발·재건축·리모델링)의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수지분석을 데이터와 검증된 모델로 수행하는 연구 웹 리포트.</a:t>
            </a:r>
          </a:p>
          <a:p>
            <a:pPr algn="l"/>
            <a:r>
              <a:rPr sz="8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700" b="1">
                <a:solidFill>
                  <a:srgbClr val="1E5D95"/>
                </a:solidFill>
                <a:latin typeface="Apple SD Gothic Neo"/>
              </a:rPr>
              <a:t>누구를 위해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시행사 · 자산운용사 · 컨설팅 — IC(투자심의)/딜 스크리닝에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바로 쓸 수 있는 정밀도와 기관 보고서 격의 완성도를 지향.</a:t>
            </a:r>
          </a:p>
          <a:p>
            <a:pPr algn="l"/>
            <a:r>
              <a:rPr sz="8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700" b="1">
                <a:solidFill>
                  <a:srgbClr val="1E5D95"/>
                </a:solidFill>
                <a:latin typeface="Apple SD Gothic Neo"/>
              </a:rPr>
              <a:t>무엇이 다른가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① 토지 용도지역→용적률→세대수까지 법령 기반 자동 도출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② 정비사업 비례율·분담금까지 계산하는 4모드 실시간 계산기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③ 딥러닝·파운데이션 모델까지 겨룬 예측 벤치마크의 정직한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D95"/>
                </a:solidFill>
                <a:latin typeface="Apple SD Gothic Neo"/>
              </a:rPr>
              <a:t>한눈에 보는 규모</a:t>
            </a:r>
          </a:p>
          <a:p>
            <a:pPr algn="l"/>
            <a:r>
              <a:rPr sz="6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16202B"/>
                </a:solidFill>
                <a:latin typeface="Apple SD Gothic Neo"/>
              </a:rPr>
              <a:t>216,804건    아파트 실거래 수집</a:t>
            </a:r>
          </a:p>
          <a:p>
            <a:pPr algn="l"/>
            <a:r>
              <a:rPr sz="1600" b="1">
                <a:solidFill>
                  <a:srgbClr val="16202B"/>
                </a:solidFill>
                <a:latin typeface="Apple SD Gothic Neo"/>
              </a:rPr>
              <a:t>43계열       시장 시계열 (월별 10년)</a:t>
            </a:r>
          </a:p>
          <a:p>
            <a:pPr algn="l"/>
            <a:r>
              <a:rPr sz="1600" b="1">
                <a:solidFill>
                  <a:srgbClr val="16202B"/>
                </a:solidFill>
                <a:latin typeface="Apple SD Gothic Neo"/>
              </a:rPr>
              <a:t>8종          공공 API 연동</a:t>
            </a:r>
          </a:p>
          <a:p>
            <a:pPr algn="l"/>
            <a:r>
              <a:rPr sz="1600" b="1">
                <a:solidFill>
                  <a:srgbClr val="16202B"/>
                </a:solidFill>
                <a:latin typeface="Apple SD Gothic Neo"/>
              </a:rPr>
              <a:t>6모델        예측 벤치마크</a:t>
            </a:r>
          </a:p>
          <a:p>
            <a:pPr algn="l"/>
            <a:r>
              <a:rPr sz="1600" b="1">
                <a:solidFill>
                  <a:srgbClr val="16202B"/>
                </a:solidFill>
                <a:latin typeface="Apple SD Gothic Neo"/>
              </a:rPr>
              <a:t>148개        자동화 검증 테스트</a:t>
            </a:r>
          </a:p>
          <a:p>
            <a:pPr algn="l"/>
            <a:r>
              <a:rPr sz="6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데이터: 한국부동산원 R-ONE · 국토부 RTMS · KOSIS ·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한국은행 ECOS · HUG · 소상공인시장진흥공단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수집(8 API) → 분석·모델 → 베이크 → 웹 — 전 구간 캐시·검증·재현 가능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011680" cy="2377440"/>
          </a:xfrm>
          <a:prstGeom prst="rect">
            <a:avLst/>
          </a:prstGeom>
          <a:solidFill>
            <a:srgbClr val="FBFCFD"/>
          </a:solidFill>
          <a:ln w="15240">
            <a:solidFill>
              <a:srgbClr val="1E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5D95"/>
                </a:solidFill>
              </a:rPr>
              <a:t>수집</a:t>
            </a:r>
          </a:p>
          <a:p>
            <a:r>
              <a:rPr sz="1200">
                <a:solidFill>
                  <a:srgbClr val="4C5A68"/>
                </a:solidFill>
              </a:rPr>
              <a:t>8개 공공 API</a:t>
            </a:r>
          </a:p>
          <a:p>
            <a:r>
              <a:rPr sz="1200">
                <a:solidFill>
                  <a:srgbClr val="4C5A68"/>
                </a:solidFill>
              </a:rPr>
              <a:t>원본 전량 캐시</a:t>
            </a:r>
          </a:p>
          <a:p>
            <a:r>
              <a:rPr sz="1200">
                <a:solidFill>
                  <a:srgbClr val="4C5A68"/>
                </a:solidFill>
              </a:rPr>
              <a:t>백오프·폴백 명시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971800"/>
            <a:ext cx="310896" cy="320040"/>
          </a:xfrm>
          <a:prstGeom prst="rightArrow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2011680"/>
            <a:ext cx="2011680" cy="2377440"/>
          </a:xfrm>
          <a:prstGeom prst="rect">
            <a:avLst/>
          </a:prstGeom>
          <a:solidFill>
            <a:srgbClr val="FBFCFD"/>
          </a:solidFill>
          <a:ln w="15240">
            <a:solidFill>
              <a:srgbClr val="1E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5D95"/>
                </a:solidFill>
              </a:rPr>
              <a:t>검증</a:t>
            </a:r>
          </a:p>
          <a:p>
            <a:r>
              <a:rPr sz="1200">
                <a:solidFill>
                  <a:srgbClr val="4C5A68"/>
                </a:solidFill>
              </a:rPr>
              <a:t>단위 통일(원·㎡)</a:t>
            </a:r>
          </a:p>
          <a:p>
            <a:r>
              <a:rPr sz="1200">
                <a:solidFill>
                  <a:srgbClr val="4C5A68"/>
                </a:solidFill>
              </a:rPr>
              <a:t>실거래 대조 검증</a:t>
            </a:r>
          </a:p>
          <a:p>
            <a:r>
              <a:rPr sz="1200">
                <a:solidFill>
                  <a:srgbClr val="4C5A68"/>
                </a:solidFill>
              </a:rPr>
              <a:t>결측은 보간 없이 기록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65776" y="2971800"/>
            <a:ext cx="310896" cy="320040"/>
          </a:xfrm>
          <a:prstGeom prst="rightArrow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60" y="2011680"/>
            <a:ext cx="2011680" cy="2377440"/>
          </a:xfrm>
          <a:prstGeom prst="rect">
            <a:avLst/>
          </a:prstGeom>
          <a:solidFill>
            <a:srgbClr val="FBFCFD"/>
          </a:solidFill>
          <a:ln w="15240">
            <a:solidFill>
              <a:srgbClr val="1E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5D95"/>
                </a:solidFill>
              </a:rPr>
              <a:t>모델</a:t>
            </a:r>
          </a:p>
          <a:p>
            <a:r>
              <a:rPr sz="1200">
                <a:solidFill>
                  <a:srgbClr val="4C5A68"/>
                </a:solidFill>
              </a:rPr>
              <a:t>수지 4모드 코어</a:t>
            </a:r>
          </a:p>
          <a:p>
            <a:r>
              <a:rPr sz="1200">
                <a:solidFill>
                  <a:srgbClr val="4C5A68"/>
                </a:solidFill>
              </a:rPr>
              <a:t>용도지역 모듈</a:t>
            </a:r>
          </a:p>
          <a:p>
            <a:r>
              <a:rPr sz="1200">
                <a:solidFill>
                  <a:srgbClr val="4C5A68"/>
                </a:solidFill>
              </a:rPr>
              <a:t>Python↔JS 패리티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43216" y="2971800"/>
            <a:ext cx="310896" cy="320040"/>
          </a:xfrm>
          <a:prstGeom prst="rightArrow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2011680"/>
            <a:ext cx="2011680" cy="2377440"/>
          </a:xfrm>
          <a:prstGeom prst="rect">
            <a:avLst/>
          </a:prstGeom>
          <a:solidFill>
            <a:srgbClr val="FBFCFD"/>
          </a:solidFill>
          <a:ln w="15240">
            <a:solidFill>
              <a:srgbClr val="1E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5D95"/>
                </a:solidFill>
              </a:rPr>
              <a:t>예측</a:t>
            </a:r>
          </a:p>
          <a:p>
            <a:r>
              <a:rPr sz="1200">
                <a:solidFill>
                  <a:srgbClr val="4C5A68"/>
                </a:solidFill>
              </a:rPr>
              <a:t>SARIMA·LGBM·LSTM</a:t>
            </a:r>
          </a:p>
          <a:p>
            <a:r>
              <a:rPr sz="1200">
                <a:solidFill>
                  <a:srgbClr val="4C5A68"/>
                </a:solidFill>
              </a:rPr>
              <a:t>Chronos 제로샷</a:t>
            </a:r>
          </a:p>
          <a:p>
            <a:r>
              <a:rPr sz="1200">
                <a:solidFill>
                  <a:srgbClr val="4C5A68"/>
                </a:solidFill>
              </a:rPr>
              <a:t>롤링 백테스트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0656" y="2971800"/>
            <a:ext cx="310896" cy="320040"/>
          </a:xfrm>
          <a:prstGeom prst="rightArrow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49840" y="2011680"/>
            <a:ext cx="2011680" cy="2377440"/>
          </a:xfrm>
          <a:prstGeom prst="rect">
            <a:avLst/>
          </a:prstGeom>
          <a:solidFill>
            <a:srgbClr val="FBFCFD"/>
          </a:solidFill>
          <a:ln w="15240">
            <a:solidFill>
              <a:srgbClr val="1E5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E5D95"/>
                </a:solidFill>
              </a:rPr>
              <a:t>웹</a:t>
            </a:r>
          </a:p>
          <a:p>
            <a:r>
              <a:rPr sz="1200">
                <a:solidFill>
                  <a:srgbClr val="4C5A68"/>
                </a:solidFill>
              </a:rPr>
              <a:t>8챕터 리포트</a:t>
            </a:r>
          </a:p>
          <a:p>
            <a:r>
              <a:rPr sz="1200">
                <a:solidFill>
                  <a:srgbClr val="4C5A68"/>
                </a:solidFill>
              </a:rPr>
              <a:t>실시간 계산기</a:t>
            </a:r>
          </a:p>
          <a:p>
            <a:r>
              <a:rPr sz="1200">
                <a:solidFill>
                  <a:srgbClr val="4C5A68"/>
                </a:solidFill>
              </a:rPr>
              <a:t>라이트/다크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202B"/>
                </a:solidFill>
                <a:latin typeface="Apple SD Gothic Neo"/>
              </a:rPr>
              <a:t>운영 원칙 — G2B 실무 시스템 운영에서 얻은 교훈의 이식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API 오류·쿼터를 침묵으로 삼키지 않는다 · 모든 집계는 원본 대조 검증 스크립트를 동반한다 ·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간헐 502에는 지수 백오프, 신청 반영 지연에는 자동 재프로브 — 수집 중단 지점부터 멱등 재개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수지분석 모델 — 4모드, 이중 구현,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신축분양 · 재개발 · 재건축 · 리모델링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구조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수입(분양) − 지출 6갈래(토지·공사·간접·판매·금융·예비)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→ 분기 현금흐름 → 개발이익·마진·ROE·NPV·IRR</a:t>
            </a:r>
          </a:p>
          <a:p>
            <a:pPr algn="l"/>
            <a:r>
              <a:rPr sz="8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정비사업 고유 문법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비례율 = (총수입−총사업비) ÷ 종전자산평가액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분담금 = 조합원분양가 − 권리가액 · 임대의무·현금청산 반영</a:t>
            </a:r>
          </a:p>
          <a:p>
            <a:pPr algn="l"/>
            <a:r>
              <a:rPr sz="8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토지 모듈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용도지역(국계법 시행령·서울조례) → 건폐율·용적률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→ 연면적 → 추정 세대수 → 수지 입력 자동 주입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23B2E"/>
                </a:solidFill>
                <a:latin typeface="Apple SD Gothic Neo"/>
              </a:rPr>
              <a:t>검증 체계</a:t>
            </a:r>
          </a:p>
          <a:p>
            <a:pPr algn="l"/>
            <a:r>
              <a:rPr sz="6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16202B"/>
                </a:solidFill>
                <a:latin typeface="Apple SD Gothic Neo"/>
              </a:rPr>
              <a:t>148개 pytest — 수기검산 대조·경계·회귀</a:t>
            </a:r>
          </a:p>
          <a:p>
            <a:pPr algn="l"/>
            <a:r>
              <a:rPr sz="4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16202B"/>
                </a:solidFill>
                <a:latin typeface="Apple SD Gothic Neo"/>
              </a:rPr>
              <a:t>Python ↔ JavaScript 패리티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무작위 입력 90조 전 출력 |Δ| &lt; 1e-6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(실측 최대 상대오차 1.6e-14 — 사실상 비트 일치)</a:t>
            </a:r>
          </a:p>
          <a:p>
            <a:pPr algn="l"/>
            <a:r>
              <a:rPr sz="4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400" b="1">
                <a:solidFill>
                  <a:srgbClr val="16202B"/>
                </a:solidFill>
                <a:latin typeface="Apple SD Gothic Neo"/>
              </a:rPr>
              <a:t>외부 교차 리뷰 2회 (codex)</a:t>
            </a:r>
          </a:p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수식·이식·데이터 계약·보안 이스케이프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예측 벤치마크 — 정직한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시도별 매매가격지수 · 롤링 오리진 백테스트 · 동일 조건 6모델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D95"/>
                </a:solidFill>
                <a:latin typeface="Apple SD Gothic Neo"/>
              </a:rPr>
              <a:t>SARIMA (statsmodels)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D95"/>
                </a:solidFill>
                <a:latin typeface="Apple SD Gothic Neo"/>
              </a:rPr>
              <a:t>MAE 0.680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>우승 — 소표본의 고전 강자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202B"/>
                </a:solidFill>
                <a:latin typeface="Apple SD Gothic Ne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042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02B"/>
                </a:solidFill>
                <a:latin typeface="Apple SD Gothic Neo"/>
              </a:rPr>
              <a:t>Chronos-Bolt (HuggingFace 제로샷)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042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02B"/>
                </a:solidFill>
                <a:latin typeface="Apple SD Gothic Neo"/>
              </a:rPr>
              <a:t>MAE 0.922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04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>학습 없이 2위 — 파운데이션 모델의 저력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202B"/>
                </a:solidFill>
                <a:latin typeface="Apple SD Gothic Ne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797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02B"/>
                </a:solidFill>
                <a:latin typeface="Apple SD Gothic Neo"/>
              </a:rPr>
              <a:t>Naive (마지막값)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797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202B"/>
                </a:solidFill>
                <a:latin typeface="Apple SD Gothic Neo"/>
              </a:rPr>
              <a:t>MAE 1.088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797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>이기기 어려운 기준선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552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C5A68"/>
                </a:solidFill>
                <a:latin typeface="Apple SD Gothic Ne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552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LightGBM (분위수·라그 피처)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552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MAE 1.614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552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30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C5A68"/>
                </a:solidFill>
                <a:latin typeface="Apple SD Gothic Ne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30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계절 Naive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MAE 1.869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7307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C5A68"/>
                </a:solidFill>
                <a:latin typeface="Apple SD Gothic Neo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LSTM (PyTorch, 시도 풀링)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C5A68"/>
                </a:solidFill>
                <a:latin typeface="Apple SD Gothic Neo"/>
              </a:rPr>
              <a:t>MAE 3.046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06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5A68"/>
                </a:solidFill>
                <a:latin typeface="Apple SD Gothic Neo"/>
              </a:rPr>
              <a:t>소표본에서 딥러닝의 한계를 그대로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10328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23B2E"/>
                </a:solidFill>
                <a:latin typeface="Apple SD Gothic Neo"/>
              </a:rPr>
              <a:t>방법론적 입장</a:t>
            </a:r>
          </a:p>
          <a:p>
            <a:pPr algn="l"/>
            <a:r>
              <a:rPr sz="1350" b="0">
                <a:solidFill>
                  <a:srgbClr val="16202B"/>
                </a:solidFill>
                <a:latin typeface="Apple SD Gothic Neo"/>
              </a:rPr>
              <a:t>120개월 소표본에서 딥러닝이 지는 것은 예상된 결과이며, 이를 감추지 않고 벤치마크 표로 공개한다.</a:t>
            </a:r>
          </a:p>
          <a:p>
            <a:pPr algn="l"/>
            <a:r>
              <a:rPr sz="1350" b="0">
                <a:solidFill>
                  <a:srgbClr val="16202B"/>
                </a:solidFill>
                <a:latin typeface="Apple SD Gothic Neo"/>
              </a:rPr>
              <a:t>미래 정보 누출 차단(라그 피처만) · 시드 고정 재현성 · 80% 분위수 구간으로 불확실성 명시.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웹 — 시장 챕터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18개 시도 스몰멀티플(선택 연동) · 국면 맵 · 마진 스퀴즈 · 12개월 예측 팬차트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시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600200"/>
            <a:ext cx="44439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웹 — 실시간 수지 계산기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토지(용도지역)→세대수 자동 도출 · 4모드 · 워터폴·게이지 · 시나리오 A/B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계산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1600200"/>
            <a:ext cx="474024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웹 — 민감도·상권 &amp; 다크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>토네이도·손익분기 히트맵(계산기 연동) · 272만 업소 상권 · 완전한 다크 테마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crop_04-민감도상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590" y="1600200"/>
            <a:ext cx="3802339" cy="4937760"/>
          </a:xfrm>
          <a:prstGeom prst="rect">
            <a:avLst/>
          </a:prstGeom>
        </p:spPr>
      </p:pic>
      <p:pic>
        <p:nvPicPr>
          <p:cNvPr id="7" name="Picture 6" descr="05-다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02" y="3566160"/>
            <a:ext cx="2809036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E5D95"/>
                </a:solidFill>
                <a:latin typeface="Apple SD Gothic Neo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B"/>
                </a:solidFill>
                <a:latin typeface="Apple SD Gothic Neo"/>
              </a:rPr>
              <a:t>기술 스택 &amp; 이 프로젝트가 증명하는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A68"/>
                </a:solidFill>
                <a:latin typeface="Apple SD Gothic Neo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27940"/>
          </a:xfrm>
          <a:prstGeom prst="rect">
            <a:avLst/>
          </a:prstGeom>
          <a:solidFill>
            <a:srgbClr val="1E5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스택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Python (수집·모델·베이크) · pytest 148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PyTorch · LightGBM · statsmodels · HuggingFace Chronos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바닐라 JS/SVG 차트 라이브러리 자작 (외부 의존 0)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공공 API 8종 (data.go.kr · ECOS · KOSIS · R-ONE · HUG · 소진공)</a:t>
            </a:r>
          </a:p>
          <a:p>
            <a:pPr algn="l"/>
            <a:r>
              <a:rPr sz="8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600" b="1">
                <a:solidFill>
                  <a:srgbClr val="1E5D95"/>
                </a:solidFill>
                <a:latin typeface="Apple SD Gothic Neo"/>
              </a:rPr>
              <a:t>디자인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“제도지(blueprint) 에디토리얼” — 도곽·치수선·인장 모티프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검증기 통과 차트 팔레트 · 라이트/다크 완전 대응 · 반응형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23B2E"/>
                </a:solidFill>
                <a:latin typeface="Apple SD Gothic Neo"/>
              </a:rPr>
              <a:t>증명하는 역량</a:t>
            </a:r>
          </a:p>
          <a:p>
            <a:pPr algn="l"/>
            <a:r>
              <a:rPr sz="6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도메인 — 개발·정비사업 수지 구조, 법령(국계법·주택법·도정법)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데이터 — 공공 API 전 주기(발급·수집·검증·재현) 운영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모델링 — 재무 모델 TDD, 시계열 ML/DL 벤치마크 설계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엔지니어링 — 이중 구현 패리티, 파이프라인 멱등성</a:t>
            </a:r>
          </a:p>
          <a:p>
            <a:pPr algn="l"/>
            <a:r>
              <a:rPr sz="1400" b="0">
                <a:solidFill>
                  <a:srgbClr val="16202B"/>
                </a:solidFill>
                <a:latin typeface="Apple SD Gothic Neo"/>
              </a:rPr>
              <a:t>프로덕트 — 기관 독자를 위한 서사·시각화·인터랙션 설계</a:t>
            </a:r>
          </a:p>
          <a:p>
            <a:pPr algn="l"/>
            <a:r>
              <a:rPr sz="1000" b="0">
                <a:solidFill>
                  <a:srgbClr val="16202B"/>
                </a:solidFill>
                <a:latin typeface="Apple SD Gothic Neo"/>
              </a:rPr>
              <a:t/>
            </a:r>
          </a:p>
          <a:p>
            <a:pPr algn="l"/>
            <a:r>
              <a:rPr sz="1300" b="1">
                <a:solidFill>
                  <a:srgbClr val="1E5D95"/>
                </a:solidFill>
                <a:latin typeface="Apple SD Gothic Neo"/>
              </a:rPr>
              <a:t>실행: ~/개발/serve.sh → http://localhost:8765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