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01-표지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8087" y="0"/>
            <a:ext cx="987552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126480"/>
            <a:ext cx="12191695" cy="731520"/>
          </a:xfrm>
          <a:prstGeom prst="rect">
            <a:avLst/>
          </a:prstGeom>
          <a:solidFill>
            <a:srgbClr val="2B2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272784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>
                <a:solidFill>
                  <a:srgbClr val="FAF7F2"/>
                </a:solidFill>
                <a:latin typeface="Apple SD Gothic Neo"/>
              </a:rPr>
              <a:t>수지(收支) — 대한민국 부동산 개발의 손익 구조  ·  개인 연구 포트폴리오  ·  서윤재  ·  yoonjae.pages.dev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C2410C"/>
                </a:solidFill>
                <a:latin typeface="Apple SD Gothic Neo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2B2016"/>
                </a:solidFill>
                <a:latin typeface="Apple SD Gothic Neo"/>
              </a:rPr>
              <a:t>프로젝트 개요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93268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5A49"/>
                </a:solidFill>
                <a:latin typeface="Apple SD Gothic Neo"/>
              </a:rPr>
              <a:t>공공 데이터 → 재무 모델 → 인터랙티브 웹 리포트 — 매월 자동 갱신되는 연구 플랫폼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10881360" cy="27940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C2410C"/>
                </a:solidFill>
                <a:latin typeface="Apple SD Gothic Neo"/>
              </a:rPr>
              <a:t>무엇을 만들었나</a:t>
            </a:r>
          </a:p>
          <a:p>
            <a:pPr algn="l"/>
            <a:r>
              <a:rPr sz="1400" b="0">
                <a:solidFill>
                  <a:srgbClr val="2B2016"/>
                </a:solidFill>
                <a:latin typeface="Apple SD Gothic Neo"/>
              </a:rPr>
              <a:t>대한민국 부동산 개발사업(신축분양·재개발·재건축·리모델링)의</a:t>
            </a:r>
          </a:p>
          <a:p>
            <a:pPr algn="l"/>
            <a:r>
              <a:rPr sz="1400" b="0">
                <a:solidFill>
                  <a:srgbClr val="2B2016"/>
                </a:solidFill>
                <a:latin typeface="Apple SD Gothic Neo"/>
              </a:rPr>
              <a:t>수지분석을 데이터와 검증된 모델로 수행하는 연구 웹 리포트.</a:t>
            </a:r>
          </a:p>
          <a:p>
            <a:pPr algn="l"/>
            <a:r>
              <a:rPr sz="800" b="0">
                <a:solidFill>
                  <a:srgbClr val="2B2016"/>
                </a:solidFill>
                <a:latin typeface="Apple SD Gothic Neo"/>
              </a:rPr>
              <a:t/>
            </a:r>
          </a:p>
          <a:p>
            <a:pPr algn="l"/>
            <a:r>
              <a:rPr sz="1700" b="1">
                <a:solidFill>
                  <a:srgbClr val="C2410C"/>
                </a:solidFill>
                <a:latin typeface="Apple SD Gothic Neo"/>
              </a:rPr>
              <a:t>누구를 위해</a:t>
            </a:r>
          </a:p>
          <a:p>
            <a:pPr algn="l"/>
            <a:r>
              <a:rPr sz="1400" b="0">
                <a:solidFill>
                  <a:srgbClr val="2B2016"/>
                </a:solidFill>
                <a:latin typeface="Apple SD Gothic Neo"/>
              </a:rPr>
              <a:t>시행사 · 자산운용사 · 컨설팅 — 딜 스크리닝의 초기 검토 흐름을</a:t>
            </a:r>
          </a:p>
          <a:p>
            <a:pPr algn="l"/>
            <a:r>
              <a:rPr sz="1400" b="0">
                <a:solidFill>
                  <a:srgbClr val="2B2016"/>
                </a:solidFill>
                <a:latin typeface="Apple SD Gothic Neo"/>
              </a:rPr>
              <a:t>재현하는 정밀도와 기관 보고서 격의 완성도를 지향.</a:t>
            </a:r>
          </a:p>
          <a:p>
            <a:pPr algn="l"/>
            <a:r>
              <a:rPr sz="800" b="0">
                <a:solidFill>
                  <a:srgbClr val="2B2016"/>
                </a:solidFill>
                <a:latin typeface="Apple SD Gothic Neo"/>
              </a:rPr>
              <a:t/>
            </a:r>
          </a:p>
          <a:p>
            <a:pPr algn="l"/>
            <a:r>
              <a:rPr sz="1700" b="1">
                <a:solidFill>
                  <a:srgbClr val="C2410C"/>
                </a:solidFill>
                <a:latin typeface="Apple SD Gothic Neo"/>
              </a:rPr>
              <a:t>무엇이 다른가</a:t>
            </a:r>
          </a:p>
          <a:p>
            <a:pPr algn="l"/>
            <a:r>
              <a:rPr sz="1400" b="0">
                <a:solidFill>
                  <a:srgbClr val="2B2016"/>
                </a:solidFill>
                <a:latin typeface="Apple SD Gothic Neo"/>
              </a:rPr>
              <a:t>① 토지 용도지역→용적률→세대수까지 법령 기반 자동 도출</a:t>
            </a:r>
          </a:p>
          <a:p>
            <a:pPr algn="l"/>
            <a:r>
              <a:rPr sz="1400" b="0">
                <a:solidFill>
                  <a:srgbClr val="2B2016"/>
                </a:solidFill>
                <a:latin typeface="Apple SD Gothic Neo"/>
              </a:rPr>
              <a:t>② 정비 비례율·분담금, 수익형 NOI·환원율까지 실시간 계산기</a:t>
            </a:r>
          </a:p>
          <a:p>
            <a:pPr algn="l"/>
            <a:r>
              <a:rPr sz="1400" b="0">
                <a:solidFill>
                  <a:srgbClr val="2B2016"/>
                </a:solidFill>
                <a:latin typeface="Apple SD Gothic Neo"/>
              </a:rPr>
              <a:t>③ 딥러닝·파운데이션 모델까지 겨룬 예측 벤치마크의 정직한 공개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73736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C2410C"/>
                </a:solidFill>
                <a:latin typeface="Apple SD Gothic Neo"/>
              </a:rPr>
              <a:t>한눈에 보는 규모</a:t>
            </a:r>
          </a:p>
          <a:p>
            <a:pPr algn="l"/>
            <a:r>
              <a:rPr sz="500" b="0">
                <a:solidFill>
                  <a:srgbClr val="2B2016"/>
                </a:solidFill>
                <a:latin typeface="Apple SD Gothic Neo"/>
              </a:rPr>
              <a:t/>
            </a:r>
          </a:p>
          <a:p>
            <a:pPr algn="l"/>
            <a:r>
              <a:rPr sz="1550" b="1">
                <a:solidFill>
                  <a:srgbClr val="2B2016"/>
                </a:solidFill>
                <a:latin typeface="Apple SD Gothic Neo"/>
              </a:rPr>
              <a:t>236,388건   아파트 실거래 (매매+분양권)</a:t>
            </a:r>
          </a:p>
          <a:p>
            <a:pPr algn="l"/>
            <a:r>
              <a:rPr sz="1550" b="1">
                <a:solidFill>
                  <a:srgbClr val="2B2016"/>
                </a:solidFill>
                <a:latin typeface="Apple SD Gothic Neo"/>
              </a:rPr>
              <a:t>195,863건   서울 25개 구 아파트 전수</a:t>
            </a:r>
          </a:p>
          <a:p>
            <a:pPr algn="l"/>
            <a:r>
              <a:rPr sz="1550" b="1">
                <a:solidFill>
                  <a:srgbClr val="2B2016"/>
                </a:solidFill>
                <a:latin typeface="Apple SD Gothic Neo"/>
              </a:rPr>
              <a:t>153,285건   상업·업무·오피스텔·토지 실거래</a:t>
            </a:r>
          </a:p>
          <a:p>
            <a:pPr algn="l"/>
            <a:r>
              <a:rPr sz="1550" b="1">
                <a:solidFill>
                  <a:srgbClr val="2B2016"/>
                </a:solidFill>
                <a:latin typeface="Apple SD Gothic Neo"/>
              </a:rPr>
              <a:t>77계열      시장 시계열 (월별 10년)</a:t>
            </a:r>
          </a:p>
          <a:p>
            <a:pPr algn="l"/>
            <a:r>
              <a:rPr sz="1550" b="1">
                <a:solidFill>
                  <a:srgbClr val="2B2016"/>
                </a:solidFill>
                <a:latin typeface="Apple SD Gothic Neo"/>
              </a:rPr>
              <a:t>14종        공공 데이터셋 (7개 기관 API)</a:t>
            </a:r>
          </a:p>
          <a:p>
            <a:pPr algn="l"/>
            <a:r>
              <a:rPr sz="1550" b="1">
                <a:solidFill>
                  <a:srgbClr val="2B2016"/>
                </a:solidFill>
                <a:latin typeface="Apple SD Gothic Neo"/>
              </a:rPr>
              <a:t>6모델       예측 벤치마크</a:t>
            </a:r>
          </a:p>
          <a:p>
            <a:pPr algn="l"/>
            <a:r>
              <a:rPr sz="1550" b="1">
                <a:solidFill>
                  <a:srgbClr val="2B2016"/>
                </a:solidFill>
                <a:latin typeface="Apple SD Gothic Neo"/>
              </a:rPr>
              <a:t>162개       자동화 검증 테스트</a:t>
            </a:r>
          </a:p>
          <a:p>
            <a:pPr algn="l"/>
            <a:r>
              <a:rPr sz="500" b="0">
                <a:solidFill>
                  <a:srgbClr val="2B2016"/>
                </a:solidFill>
                <a:latin typeface="Apple SD Gothic Neo"/>
              </a:rPr>
              <a:t/>
            </a:r>
          </a:p>
          <a:p>
            <a:pPr algn="l"/>
            <a:r>
              <a:rPr sz="1300" b="0">
                <a:solidFill>
                  <a:srgbClr val="6B5A49"/>
                </a:solidFill>
                <a:latin typeface="Apple SD Gothic Neo"/>
              </a:rPr>
              <a:t>한국부동산원 R-ONE · 국토부 RTMS·건축HUB · KOSIS ·</a:t>
            </a:r>
          </a:p>
          <a:p>
            <a:pPr algn="l"/>
            <a:r>
              <a:rPr sz="1300" b="0">
                <a:solidFill>
                  <a:srgbClr val="6B5A49"/>
                </a:solidFill>
                <a:latin typeface="Apple SD Gothic Neo"/>
              </a:rPr>
              <a:t>한국은행 ECOS · HUG · 소상공인시장진흥공단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C2410C"/>
                </a:solidFill>
                <a:latin typeface="Apple SD Gothic Neo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2B2016"/>
                </a:solidFill>
                <a:latin typeface="Apple SD Gothic Neo"/>
              </a:rPr>
              <a:t>데이터 파이프라인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93268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5A49"/>
                </a:solidFill>
                <a:latin typeface="Apple SD Gothic Neo"/>
              </a:rPr>
              <a:t>수집(14종) → 검증 → 모델 → 예측 → 웹·배포 — launchd 매월 자동 갱신, 실패는 격리·통보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10881360" cy="27940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011680"/>
            <a:ext cx="2011680" cy="2377440"/>
          </a:xfrm>
          <a:prstGeom prst="rect">
            <a:avLst/>
          </a:prstGeom>
          <a:solidFill>
            <a:srgbClr val="FFFDFA"/>
          </a:solidFill>
          <a:ln w="1524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C2410C"/>
                </a:solidFill>
              </a:rPr>
              <a:t>수집</a:t>
            </a:r>
          </a:p>
          <a:p>
            <a:r>
              <a:rPr sz="1200">
                <a:solidFill>
                  <a:srgbClr val="6B5A49"/>
                </a:solidFill>
              </a:rPr>
              <a:t>10개 수집기</a:t>
            </a:r>
          </a:p>
          <a:p>
            <a:r>
              <a:rPr sz="1200">
                <a:solidFill>
                  <a:srgbClr val="6B5A49"/>
                </a:solidFill>
              </a:rPr>
              <a:t>원본 전량 캐시</a:t>
            </a:r>
          </a:p>
          <a:p>
            <a:r>
              <a:rPr sz="1200">
                <a:solidFill>
                  <a:srgbClr val="6B5A49"/>
                </a:solidFill>
              </a:rPr>
              <a:t>백오프·폴백 명시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688336" y="2971800"/>
            <a:ext cx="310896" cy="320040"/>
          </a:xfrm>
          <a:prstGeom prst="rightArrow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017520" y="2011680"/>
            <a:ext cx="2011680" cy="2377440"/>
          </a:xfrm>
          <a:prstGeom prst="rect">
            <a:avLst/>
          </a:prstGeom>
          <a:solidFill>
            <a:srgbClr val="FFFDFA"/>
          </a:solidFill>
          <a:ln w="1524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C2410C"/>
                </a:solidFill>
              </a:rPr>
              <a:t>검증</a:t>
            </a:r>
          </a:p>
          <a:p>
            <a:r>
              <a:rPr sz="1200">
                <a:solidFill>
                  <a:srgbClr val="6B5A49"/>
                </a:solidFill>
              </a:rPr>
              <a:t>단위 통일(원·㎡)</a:t>
            </a:r>
          </a:p>
          <a:p>
            <a:r>
              <a:rPr sz="1200">
                <a:solidFill>
                  <a:srgbClr val="6B5A49"/>
                </a:solidFill>
              </a:rPr>
              <a:t>물리 범위 게이트</a:t>
            </a:r>
          </a:p>
          <a:p>
            <a:r>
              <a:rPr sz="1200">
                <a:solidFill>
                  <a:srgbClr val="6B5A49"/>
                </a:solidFill>
              </a:rPr>
              <a:t>결측은 보간 없이 기록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065776" y="2971800"/>
            <a:ext cx="310896" cy="320040"/>
          </a:xfrm>
          <a:prstGeom prst="rightArrow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394960" y="2011680"/>
            <a:ext cx="2011680" cy="2377440"/>
          </a:xfrm>
          <a:prstGeom prst="rect">
            <a:avLst/>
          </a:prstGeom>
          <a:solidFill>
            <a:srgbClr val="FFFDFA"/>
          </a:solidFill>
          <a:ln w="1524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C2410C"/>
                </a:solidFill>
              </a:rPr>
              <a:t>모델</a:t>
            </a:r>
          </a:p>
          <a:p>
            <a:r>
              <a:rPr sz="1200">
                <a:solidFill>
                  <a:srgbClr val="6B5A49"/>
                </a:solidFill>
              </a:rPr>
              <a:t>수지 4모드+수익형</a:t>
            </a:r>
          </a:p>
          <a:p>
            <a:r>
              <a:rPr sz="1200">
                <a:solidFill>
                  <a:srgbClr val="6B5A49"/>
                </a:solidFill>
              </a:rPr>
              <a:t>용도지역 모듈</a:t>
            </a:r>
          </a:p>
          <a:p>
            <a:r>
              <a:rPr sz="1200">
                <a:solidFill>
                  <a:srgbClr val="6B5A49"/>
                </a:solidFill>
              </a:rPr>
              <a:t>Python↔JS 패리티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443216" y="2971800"/>
            <a:ext cx="310896" cy="320040"/>
          </a:xfrm>
          <a:prstGeom prst="rightArrow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0" y="2011680"/>
            <a:ext cx="2011680" cy="2377440"/>
          </a:xfrm>
          <a:prstGeom prst="rect">
            <a:avLst/>
          </a:prstGeom>
          <a:solidFill>
            <a:srgbClr val="FFFDFA"/>
          </a:solidFill>
          <a:ln w="1524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C2410C"/>
                </a:solidFill>
              </a:rPr>
              <a:t>예측</a:t>
            </a:r>
          </a:p>
          <a:p>
            <a:r>
              <a:rPr sz="1200">
                <a:solidFill>
                  <a:srgbClr val="6B5A49"/>
                </a:solidFill>
              </a:rPr>
              <a:t>SARIMA·LGBM·LSTM</a:t>
            </a:r>
          </a:p>
          <a:p>
            <a:r>
              <a:rPr sz="1200">
                <a:solidFill>
                  <a:srgbClr val="6B5A49"/>
                </a:solidFill>
              </a:rPr>
              <a:t>Chronos 제로샷</a:t>
            </a:r>
          </a:p>
          <a:p>
            <a:r>
              <a:rPr sz="1200">
                <a:solidFill>
                  <a:srgbClr val="6B5A49"/>
                </a:solidFill>
              </a:rPr>
              <a:t>분기마다 재학습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820656" y="2971800"/>
            <a:ext cx="310896" cy="320040"/>
          </a:xfrm>
          <a:prstGeom prst="rightArrow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149840" y="2011680"/>
            <a:ext cx="2011680" cy="2377440"/>
          </a:xfrm>
          <a:prstGeom prst="rect">
            <a:avLst/>
          </a:prstGeom>
          <a:solidFill>
            <a:srgbClr val="FFFDFA"/>
          </a:solidFill>
          <a:ln w="1524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C2410C"/>
                </a:solidFill>
              </a:rPr>
              <a:t>웹·배포</a:t>
            </a:r>
          </a:p>
          <a:p>
            <a:r>
              <a:rPr sz="1200">
                <a:solidFill>
                  <a:srgbClr val="6B5A49"/>
                </a:solidFill>
              </a:rPr>
              <a:t>8챕터+EDA 리포트</a:t>
            </a:r>
          </a:p>
          <a:p>
            <a:r>
              <a:rPr sz="1200">
                <a:solidFill>
                  <a:srgbClr val="6B5A49"/>
                </a:solidFill>
              </a:rPr>
              <a:t>실시간 계산기</a:t>
            </a:r>
          </a:p>
          <a:p>
            <a:r>
              <a:rPr sz="1200">
                <a:solidFill>
                  <a:srgbClr val="6B5A49"/>
                </a:solidFill>
              </a:rPr>
              <a:t>월간 자동 배포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84632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B2016"/>
                </a:solidFill>
                <a:latin typeface="Apple SD Gothic Neo"/>
              </a:rPr>
              <a:t>운영 원칙 — 실무 시스템 운영에서 얻은 교훈의 이식</a:t>
            </a:r>
          </a:p>
          <a:p>
            <a:pPr algn="l"/>
            <a:r>
              <a:rPr sz="1300" b="0">
                <a:solidFill>
                  <a:srgbClr val="6B5A49"/>
                </a:solidFill>
                <a:latin typeface="Apple SD Gothic Neo"/>
              </a:rPr>
              <a:t>API 오류·쿼터를 침묵으로 삼키지 않는다 · 모든 집계는 원본 대조 검증 스크립트를 동반한다 ·</a:t>
            </a:r>
          </a:p>
          <a:p>
            <a:pPr algn="l"/>
            <a:r>
              <a:rPr sz="1300" b="0">
                <a:solidFill>
                  <a:srgbClr val="6B5A49"/>
                </a:solidFill>
                <a:latin typeface="Apple SD Gothic Neo"/>
              </a:rPr>
              <a:t>빌드는 원자적 스왑(실패 시 직전 사이트 보존) · 행정구역 개편 같은 원천 변화도 수집기가 흡수한다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C2410C"/>
                </a:solidFill>
                <a:latin typeface="Apple SD Gothic Neo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2B2016"/>
                </a:solidFill>
                <a:latin typeface="Apple SD Gothic Neo"/>
              </a:rPr>
              <a:t>수지분석 모델 — 4모드 + 수익형, 이중 구현, 교차 검증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93268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5A49"/>
                </a:solidFill>
                <a:latin typeface="Apple SD Gothic Neo"/>
              </a:rPr>
              <a:t>신축분양 · 재개발 · 재건축 · 리모델링 · 오피스/상업 수익형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10881360" cy="27940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5486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C2410C"/>
                </a:solidFill>
                <a:latin typeface="Apple SD Gothic Neo"/>
              </a:rPr>
              <a:t>구조</a:t>
            </a:r>
          </a:p>
          <a:p>
            <a:pPr algn="l"/>
            <a:r>
              <a:rPr sz="1400" b="0">
                <a:solidFill>
                  <a:srgbClr val="2B2016"/>
                </a:solidFill>
                <a:latin typeface="Apple SD Gothic Neo"/>
              </a:rPr>
              <a:t>수입(분양) − 지출 여섯 항목(토지·공사·간접·판매·금융·예비)</a:t>
            </a:r>
          </a:p>
          <a:p>
            <a:pPr algn="l"/>
            <a:r>
              <a:rPr sz="1400" b="0">
                <a:solidFill>
                  <a:srgbClr val="2B2016"/>
                </a:solidFill>
                <a:latin typeface="Apple SD Gothic Neo"/>
              </a:rPr>
              <a:t>→ 분기 현금흐름 → 개발이익·마진·ROE·NPV·IRR</a:t>
            </a:r>
          </a:p>
          <a:p>
            <a:pPr algn="l"/>
            <a:r>
              <a:rPr sz="800" b="0">
                <a:solidFill>
                  <a:srgbClr val="2B2016"/>
                </a:solidFill>
                <a:latin typeface="Apple SD Gothic Neo"/>
              </a:rPr>
              <a:t/>
            </a:r>
          </a:p>
          <a:p>
            <a:pPr algn="l"/>
            <a:r>
              <a:rPr sz="1600" b="1">
                <a:solidFill>
                  <a:srgbClr val="C2410C"/>
                </a:solidFill>
                <a:latin typeface="Apple SD Gothic Neo"/>
              </a:rPr>
              <a:t>정비사업 고유 계산</a:t>
            </a:r>
          </a:p>
          <a:p>
            <a:pPr algn="l"/>
            <a:r>
              <a:rPr sz="1400" b="0">
                <a:solidFill>
                  <a:srgbClr val="2B2016"/>
                </a:solidFill>
                <a:latin typeface="Apple SD Gothic Neo"/>
              </a:rPr>
              <a:t>비례율 = (총수입−총사업비) ÷ 종전자산평가액</a:t>
            </a:r>
          </a:p>
          <a:p>
            <a:pPr algn="l"/>
            <a:r>
              <a:rPr sz="1400" b="0">
                <a:solidFill>
                  <a:srgbClr val="2B2016"/>
                </a:solidFill>
                <a:latin typeface="Apple SD Gothic Neo"/>
              </a:rPr>
              <a:t>분담금 = 조합원분양가 − 권리가액 · 임대의무·현금청산 반영</a:t>
            </a:r>
          </a:p>
          <a:p>
            <a:pPr algn="l"/>
            <a:r>
              <a:rPr sz="800" b="0">
                <a:solidFill>
                  <a:srgbClr val="2B2016"/>
                </a:solidFill>
                <a:latin typeface="Apple SD Gothic Neo"/>
              </a:rPr>
              <a:t/>
            </a:r>
          </a:p>
          <a:p>
            <a:pPr algn="l"/>
            <a:r>
              <a:rPr sz="1600" b="1">
                <a:solidFill>
                  <a:srgbClr val="C2410C"/>
                </a:solidFill>
                <a:latin typeface="Apple SD Gothic Neo"/>
              </a:rPr>
              <a:t>수익형(오피스·상업)</a:t>
            </a:r>
          </a:p>
          <a:p>
            <a:pPr algn="l"/>
            <a:r>
              <a:rPr sz="1400" b="0">
                <a:solidFill>
                  <a:srgbClr val="2B2016"/>
                </a:solidFill>
                <a:latin typeface="Apple SD Gothic Neo"/>
              </a:rPr>
              <a:t>NOI = 임대면적×임대료×(1−공실)×(1−경비율)</a:t>
            </a:r>
          </a:p>
          <a:p>
            <a:pPr algn="l"/>
            <a:r>
              <a:rPr sz="1400" b="0">
                <a:solidFill>
                  <a:srgbClr val="2B2016"/>
                </a:solidFill>
                <a:latin typeface="Apple SD Gothic Neo"/>
              </a:rPr>
              <a:t>매각가치 = NOI ÷ 환원율 — 준공 시점 일시 유입으로 편성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0" y="1737360"/>
            <a:ext cx="5029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E5D95"/>
                </a:solidFill>
                <a:latin typeface="Apple SD Gothic Neo"/>
              </a:rPr>
              <a:t>검증 체계</a:t>
            </a:r>
          </a:p>
          <a:p>
            <a:pPr algn="l"/>
            <a:r>
              <a:rPr sz="600" b="0">
                <a:solidFill>
                  <a:srgbClr val="2B2016"/>
                </a:solidFill>
                <a:latin typeface="Apple SD Gothic Neo"/>
              </a:rPr>
              <a:t/>
            </a:r>
          </a:p>
          <a:p>
            <a:pPr algn="l"/>
            <a:r>
              <a:rPr sz="1400" b="1">
                <a:solidFill>
                  <a:srgbClr val="2B2016"/>
                </a:solidFill>
                <a:latin typeface="Apple SD Gothic Neo"/>
              </a:rPr>
              <a:t>162개 pytest — 수기검산 대조·경계·회귀</a:t>
            </a:r>
          </a:p>
          <a:p>
            <a:pPr algn="l"/>
            <a:r>
              <a:rPr sz="400" b="0">
                <a:solidFill>
                  <a:srgbClr val="2B2016"/>
                </a:solidFill>
                <a:latin typeface="Apple SD Gothic Neo"/>
              </a:rPr>
              <a:t/>
            </a:r>
          </a:p>
          <a:p>
            <a:pPr algn="l"/>
            <a:r>
              <a:rPr sz="1400" b="1">
                <a:solidFill>
                  <a:srgbClr val="2B2016"/>
                </a:solidFill>
                <a:latin typeface="Apple SD Gothic Neo"/>
              </a:rPr>
              <a:t>Python ↔ JavaScript 패리티 78조</a:t>
            </a:r>
          </a:p>
          <a:p>
            <a:pPr algn="l"/>
            <a:r>
              <a:rPr sz="1300" b="0">
                <a:solidFill>
                  <a:srgbClr val="6B5A49"/>
                </a:solidFill>
                <a:latin typeface="Apple SD Gothic Neo"/>
              </a:rPr>
              <a:t>전 출력 |Δ| &lt; 1e-6 강제 (실측 최대 상대오차 2.5e-15)</a:t>
            </a:r>
          </a:p>
          <a:p>
            <a:pPr algn="l"/>
            <a:r>
              <a:rPr sz="400" b="0">
                <a:solidFill>
                  <a:srgbClr val="2B2016"/>
                </a:solidFill>
                <a:latin typeface="Apple SD Gothic Neo"/>
              </a:rPr>
              <a:t/>
            </a:r>
          </a:p>
          <a:p>
            <a:pPr algn="l"/>
            <a:r>
              <a:rPr sz="1400" b="1">
                <a:solidFill>
                  <a:srgbClr val="2B2016"/>
                </a:solidFill>
                <a:latin typeface="Apple SD Gothic Neo"/>
              </a:rPr>
              <a:t>독립 재구현 3-way 대조</a:t>
            </a:r>
          </a:p>
          <a:p>
            <a:pPr algn="l"/>
            <a:r>
              <a:rPr sz="1300" b="0">
                <a:solidFill>
                  <a:srgbClr val="6B5A49"/>
                </a:solidFill>
                <a:latin typeface="Apple SD Gothic Neo"/>
              </a:rPr>
              <a:t>명세만 보고 새로 짠 검산기와 양 엔진의 수치 완전 일치</a:t>
            </a:r>
          </a:p>
          <a:p>
            <a:pPr algn="l"/>
            <a:r>
              <a:rPr sz="400" b="0">
                <a:solidFill>
                  <a:srgbClr val="2B2016"/>
                </a:solidFill>
                <a:latin typeface="Apple SD Gothic Neo"/>
              </a:rPr>
              <a:t/>
            </a:r>
          </a:p>
          <a:p>
            <a:pPr algn="l"/>
            <a:r>
              <a:rPr sz="1400" b="1">
                <a:solidFill>
                  <a:srgbClr val="2B2016"/>
                </a:solidFill>
                <a:latin typeface="Apple SD Gothic Neo"/>
              </a:rPr>
              <a:t>적대적 교차 검증 4회</a:t>
            </a:r>
          </a:p>
          <a:p>
            <a:pPr algn="l"/>
            <a:r>
              <a:rPr sz="1300" b="0">
                <a:solidFill>
                  <a:srgbClr val="6B5A49"/>
                </a:solidFill>
                <a:latin typeface="Apple SD Gothic Neo"/>
              </a:rPr>
              <a:t>외부 모델·다중 에이전트 — 수식·이식·접근성·UX 실측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C2410C"/>
                </a:solidFill>
                <a:latin typeface="Apple SD Gothic Neo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2B2016"/>
                </a:solidFill>
                <a:latin typeface="Apple SD Gothic Neo"/>
              </a:rPr>
              <a:t>예측 벤치마크 — 정직한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93268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5A49"/>
                </a:solidFill>
                <a:latin typeface="Apple SD Gothic Neo"/>
              </a:rPr>
              <a:t>시도별 매매가격지수 · 롤링 오리진 백테스트 · 동일 조건 6모델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10881360" cy="27940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C2410C"/>
                </a:solidFill>
                <a:latin typeface="Apple SD Gothic Neo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82880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C2410C"/>
                </a:solidFill>
                <a:latin typeface="Apple SD Gothic Neo"/>
              </a:rPr>
              <a:t>SARIMA (statsmodels)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182880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C2410C"/>
                </a:solidFill>
                <a:latin typeface="Apple SD Gothic Neo"/>
              </a:rPr>
              <a:t>MAE 0.680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182880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6B5A49"/>
                </a:solidFill>
                <a:latin typeface="Apple SD Gothic Neo"/>
              </a:rPr>
              <a:t>우승 — 소표본의 고전 강자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304288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B2016"/>
                </a:solidFill>
                <a:latin typeface="Apple SD Gothic Neo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2304288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B2016"/>
                </a:solidFill>
                <a:latin typeface="Apple SD Gothic Neo"/>
              </a:rPr>
              <a:t>Chronos-Bolt (HuggingFace 제로샷)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30428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B2016"/>
                </a:solidFill>
                <a:latin typeface="Apple SD Gothic Neo"/>
              </a:rPr>
              <a:t>MAE 0.922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2304288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6B5A49"/>
                </a:solidFill>
                <a:latin typeface="Apple SD Gothic Neo"/>
              </a:rPr>
              <a:t>학습 없이 2위 — 파운데이션 모델의 저력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779776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B2016"/>
                </a:solidFill>
                <a:latin typeface="Apple SD Gothic Neo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2779776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B2016"/>
                </a:solidFill>
                <a:latin typeface="Apple SD Gothic Neo"/>
              </a:rPr>
              <a:t>Naive (마지막값)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779776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B2016"/>
                </a:solidFill>
                <a:latin typeface="Apple SD Gothic Neo"/>
              </a:rPr>
              <a:t>MAE 1.088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779776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6B5A49"/>
                </a:solidFill>
                <a:latin typeface="Apple SD Gothic Neo"/>
              </a:rPr>
              <a:t>이기기 어려운 기준선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255264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6B5A49"/>
                </a:solidFill>
                <a:latin typeface="Apple SD Gothic Neo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255264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6B5A49"/>
                </a:solidFill>
                <a:latin typeface="Apple SD Gothic Neo"/>
              </a:rPr>
              <a:t>LightGBM (분위수·라그 피처)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3255264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6B5A49"/>
                </a:solidFill>
                <a:latin typeface="Apple SD Gothic Neo"/>
              </a:rPr>
              <a:t>MAE 1.614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3255264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6B5A49"/>
                </a:solidFill>
                <a:latin typeface="Apple SD Gothic Neo"/>
              </a:rPr>
              <a:t/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3730752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6B5A49"/>
                </a:solidFill>
                <a:latin typeface="Apple SD Gothic Neo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3730752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6B5A49"/>
                </a:solidFill>
                <a:latin typeface="Apple SD Gothic Neo"/>
              </a:rPr>
              <a:t>계절 Naive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3730752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6B5A49"/>
                </a:solidFill>
                <a:latin typeface="Apple SD Gothic Neo"/>
              </a:rPr>
              <a:t>MAE 1.869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3730752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6B5A49"/>
                </a:solidFill>
                <a:latin typeface="Apple SD Gothic Neo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420624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6B5A49"/>
                </a:solidFill>
                <a:latin typeface="Apple SD Gothic Neo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0" y="420624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6B5A49"/>
                </a:solidFill>
                <a:latin typeface="Apple SD Gothic Neo"/>
              </a:rPr>
              <a:t>LSTM (PyTorch, 시도 풀링)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420624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6B5A49"/>
                </a:solidFill>
                <a:latin typeface="Apple SD Gothic Neo"/>
              </a:rPr>
              <a:t>MAE 3.046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46720" y="420624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6B5A49"/>
                </a:solidFill>
                <a:latin typeface="Apple SD Gothic Neo"/>
              </a:rPr>
              <a:t>소표본에서 딥러닝의 한계를 그대로 보고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4910328"/>
            <a:ext cx="10789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E5D95"/>
                </a:solidFill>
                <a:latin typeface="Apple SD Gothic Neo"/>
              </a:rPr>
              <a:t>정직한 보고 원칙</a:t>
            </a:r>
          </a:p>
          <a:p>
            <a:pPr algn="l"/>
            <a:r>
              <a:rPr sz="1350" b="0">
                <a:solidFill>
                  <a:srgbClr val="2B2016"/>
                </a:solidFill>
                <a:latin typeface="Apple SD Gothic Neo"/>
              </a:rPr>
              <a:t>120개월 소표본에서 딥러닝이 지는 것은 예상된 결과이며, 이를 감추지 않고 벤치마크 표로 공개한다.</a:t>
            </a:r>
          </a:p>
          <a:p>
            <a:pPr algn="l"/>
            <a:r>
              <a:rPr sz="1350" b="0">
                <a:solidFill>
                  <a:srgbClr val="2B2016"/>
                </a:solidFill>
                <a:latin typeface="Apple SD Gothic Neo"/>
              </a:rPr>
              <a:t>미래 정보 누출 차단(라그 피처만) · 시드 고정 재현성 · 80% 분위수 구간으로 불확실성 명시.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C2410C"/>
                </a:solidFill>
                <a:latin typeface="Apple SD Gothic Neo"/>
              </a:rP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2B2016"/>
                </a:solidFill>
                <a:latin typeface="Apple SD Gothic Neo"/>
              </a:rPr>
              <a:t>웹 — 시장 챕터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93268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5A49"/>
                </a:solidFill>
                <a:latin typeface="Apple SD Gothic Neo"/>
              </a:rPr>
              <a:t>17개 시도 스몰멀티플(선택 연동) · 서울 25개 구 전수 195,863건 — 강남3구가 비강남의 1.87배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10881360" cy="27940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_crop_02-시장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8667" y="1600200"/>
            <a:ext cx="6804186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C2410C"/>
                </a:solidFill>
                <a:latin typeface="Apple SD Gothic Neo"/>
              </a:rP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2B2016"/>
                </a:solidFill>
                <a:latin typeface="Apple SD Gothic Neo"/>
              </a:rPr>
              <a:t>웹 — 실시간 수지 계산기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93268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5A49"/>
                </a:solidFill>
                <a:latin typeface="Apple SD Gothic Neo"/>
              </a:rPr>
              <a:t>토지(용도지역)→세대수 자동 도출 · 4모드+수익형 · 워터폴·게이지 · 시나리오 A/B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10881360" cy="27940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_crop_03-계산기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4354" y="1600200"/>
            <a:ext cx="6632811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C2410C"/>
                </a:solidFill>
                <a:latin typeface="Apple SD Gothic Neo"/>
              </a:rPr>
              <a:t>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2B2016"/>
                </a:solidFill>
                <a:latin typeface="Apple SD Gothic Neo"/>
              </a:rPr>
              <a:t>웹 — 민감도 &amp; 다크 모드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93268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5A49"/>
                </a:solidFill>
                <a:latin typeface="Apple SD Gothic Neo"/>
              </a:rPr>
              <a:t>토네이도 · 손익분기 히트맵(셀 수치 직접 표기, 계산기 연동) · 완전한 다크 테마 · 모바일 실측 검증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10881360" cy="27940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_crop_04-민감도상권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0552" y="1600200"/>
            <a:ext cx="7900416" cy="4937760"/>
          </a:xfrm>
          <a:prstGeom prst="rect">
            <a:avLst/>
          </a:prstGeom>
        </p:spPr>
      </p:pic>
      <p:pic>
        <p:nvPicPr>
          <p:cNvPr id="7" name="Picture 6" descr="05-다크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72059" y="3566160"/>
            <a:ext cx="4435321" cy="29260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C2410C"/>
                </a:solidFill>
                <a:latin typeface="Apple SD Gothic Neo"/>
              </a:rPr>
              <a:t>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2B2016"/>
                </a:solidFill>
                <a:latin typeface="Apple SD Gothic Neo"/>
              </a:rPr>
              <a:t>기술 스택 &amp; 이 프로젝트가 증명하는 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93268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5A49"/>
                </a:solidFill>
                <a:latin typeface="Apple SD Gothic Neo"/>
              </a:rPr>
              <a:t/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10881360" cy="27940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5394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C2410C"/>
                </a:solidFill>
                <a:latin typeface="Apple SD Gothic Neo"/>
              </a:rPr>
              <a:t>스택</a:t>
            </a:r>
          </a:p>
          <a:p>
            <a:pPr algn="l"/>
            <a:r>
              <a:rPr sz="1400" b="0">
                <a:solidFill>
                  <a:srgbClr val="2B2016"/>
                </a:solidFill>
                <a:latin typeface="Apple SD Gothic Neo"/>
              </a:rPr>
              <a:t>Python (수집·모델·빌드) · pytest 162</a:t>
            </a:r>
          </a:p>
          <a:p>
            <a:pPr algn="l"/>
            <a:r>
              <a:rPr sz="1400" b="0">
                <a:solidFill>
                  <a:srgbClr val="2B2016"/>
                </a:solidFill>
                <a:latin typeface="Apple SD Gothic Neo"/>
              </a:rPr>
              <a:t>PyTorch · LightGBM · statsmodels · HuggingFace Chronos</a:t>
            </a:r>
          </a:p>
          <a:p>
            <a:pPr algn="l"/>
            <a:r>
              <a:rPr sz="1400" b="0">
                <a:solidFill>
                  <a:srgbClr val="2B2016"/>
                </a:solidFill>
                <a:latin typeface="Apple SD Gothic Neo"/>
              </a:rPr>
              <a:t>바닐라 JS/SVG 차트 자작 — 드래그 확대·월/분기/연 전환, 의존 0</a:t>
            </a:r>
          </a:p>
          <a:p>
            <a:pPr algn="l"/>
            <a:r>
              <a:rPr sz="1400" b="0">
                <a:solidFill>
                  <a:srgbClr val="2B2016"/>
                </a:solidFill>
                <a:latin typeface="Apple SD Gothic Neo"/>
              </a:rPr>
              <a:t>공공 API 7개 기관 14종 (data.go.kr · ECOS · KOSIS · R-ONE 등)</a:t>
            </a:r>
          </a:p>
          <a:p>
            <a:pPr algn="l"/>
            <a:r>
              <a:rPr sz="800" b="0">
                <a:solidFill>
                  <a:srgbClr val="2B2016"/>
                </a:solidFill>
                <a:latin typeface="Apple SD Gothic Neo"/>
              </a:rPr>
              <a:t/>
            </a:r>
          </a:p>
          <a:p>
            <a:pPr algn="l"/>
            <a:r>
              <a:rPr sz="1600" b="1">
                <a:solidFill>
                  <a:srgbClr val="C2410C"/>
                </a:solidFill>
                <a:latin typeface="Apple SD Gothic Neo"/>
              </a:rPr>
              <a:t>디자인</a:t>
            </a:r>
          </a:p>
          <a:p>
            <a:pPr algn="l"/>
            <a:r>
              <a:rPr sz="1400" b="0">
                <a:solidFill>
                  <a:srgbClr val="2B2016"/>
                </a:solidFill>
                <a:latin typeface="Apple SD Gothic Neo"/>
              </a:rPr>
              <a:t>“웜 제도지 + 주황 제도펜” 에디토리얼 — 도곽·치수선·인장 모티프</a:t>
            </a:r>
          </a:p>
          <a:p>
            <a:pPr algn="l"/>
            <a:r>
              <a:rPr sz="1400" b="0">
                <a:solidFill>
                  <a:srgbClr val="2B2016"/>
                </a:solidFill>
                <a:latin typeface="Apple SD Gothic Neo"/>
              </a:rPr>
              <a:t>검증기 통과 팔레트 · 라이트/다크 · 모바일 390px 실측 검증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73736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E5D95"/>
                </a:solidFill>
                <a:latin typeface="Apple SD Gothic Neo"/>
              </a:rPr>
              <a:t>증명하는 역량</a:t>
            </a:r>
          </a:p>
          <a:p>
            <a:pPr algn="l"/>
            <a:r>
              <a:rPr sz="600" b="0">
                <a:solidFill>
                  <a:srgbClr val="2B2016"/>
                </a:solidFill>
                <a:latin typeface="Apple SD Gothic Neo"/>
              </a:rPr>
              <a:t/>
            </a:r>
          </a:p>
          <a:p>
            <a:pPr algn="l"/>
            <a:r>
              <a:rPr sz="1400" b="0">
                <a:solidFill>
                  <a:srgbClr val="2B2016"/>
                </a:solidFill>
                <a:latin typeface="Apple SD Gothic Neo"/>
              </a:rPr>
              <a:t>도메인 — 개발·정비사업 수지 구조, 법령(국계법·주택법·도정법)</a:t>
            </a:r>
          </a:p>
          <a:p>
            <a:pPr algn="l"/>
            <a:r>
              <a:rPr sz="1400" b="0">
                <a:solidFill>
                  <a:srgbClr val="2B2016"/>
                </a:solidFill>
                <a:latin typeface="Apple SD Gothic Neo"/>
              </a:rPr>
              <a:t>데이터 — 공공 API 전 주기(발급·수집·검증·재현) 운영</a:t>
            </a:r>
          </a:p>
          <a:p>
            <a:pPr algn="l"/>
            <a:r>
              <a:rPr sz="1400" b="0">
                <a:solidFill>
                  <a:srgbClr val="2B2016"/>
                </a:solidFill>
                <a:latin typeface="Apple SD Gothic Neo"/>
              </a:rPr>
              <a:t>모델링 — 재무 모델 TDD, 시계열 ML/DL 벤치마크 설계</a:t>
            </a:r>
          </a:p>
          <a:p>
            <a:pPr algn="l"/>
            <a:r>
              <a:rPr sz="1400" b="0">
                <a:solidFill>
                  <a:srgbClr val="2B2016"/>
                </a:solidFill>
                <a:latin typeface="Apple SD Gothic Neo"/>
              </a:rPr>
              <a:t>엔지니어링 — 이중 구현 패리티, 파이프라인 멱등성·자동화</a:t>
            </a:r>
          </a:p>
          <a:p>
            <a:pPr algn="l"/>
            <a:r>
              <a:rPr sz="1400" b="0">
                <a:solidFill>
                  <a:srgbClr val="2B2016"/>
                </a:solidFill>
                <a:latin typeface="Apple SD Gothic Neo"/>
              </a:rPr>
              <a:t>프로덕트 — 기관 독자를 위한 서사·시각화·접근성 설계</a:t>
            </a:r>
          </a:p>
          <a:p>
            <a:pPr algn="l"/>
            <a:r>
              <a:rPr sz="1000" b="0">
                <a:solidFill>
                  <a:srgbClr val="2B2016"/>
                </a:solidFill>
                <a:latin typeface="Apple SD Gothic Neo"/>
              </a:rPr>
              <a:t/>
            </a:r>
          </a:p>
          <a:p>
            <a:pPr algn="l"/>
            <a:r>
              <a:rPr sz="1350" b="1">
                <a:solidFill>
                  <a:srgbClr val="C2410C"/>
                </a:solidFill>
                <a:latin typeface="Apple SD Gothic Neo"/>
              </a:rPr>
              <a:t>공개: https://yoonjae.pages.dev — 매월 자동 갱신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